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1"/>
  </p:sldMasterIdLst>
  <p:notesMasterIdLst>
    <p:notesMasterId r:id="rId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  <p:sldId id="265" r:id="rId110"/>
    <p:sldId id="266" r:id="rId111"/>
    <p:sldId id="267" r:id="rId112"/>
  </p:sldIdLst>
  <p:sldSz cx="9144000" cy="5143500" type="screen16x9"/>
  <p:notesSz cx="7099300" cy="10234613"/>
  <p:defaultTextStyle>
    <a:defPPr>
      <a:defRPr lang="es-CL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3429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685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0287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1714500" algn="l" defTabSz="6858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057400" algn="l" defTabSz="6858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2400300" algn="l" defTabSz="6858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2743200" algn="l" defTabSz="6858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  <p15:guide id="5" pos="158" userDrawn="1">
          <p15:clr>
            <a:srgbClr val="A4A3A4"/>
          </p15:clr>
        </p15:guide>
        <p15:guide id="6" pos="5602" userDrawn="1">
          <p15:clr>
            <a:srgbClr val="A4A3A4"/>
          </p15:clr>
        </p15:guide>
        <p15:guide id="7" pos="1519" userDrawn="1">
          <p15:clr>
            <a:srgbClr val="A4A3A4"/>
          </p15:clr>
        </p15:guide>
        <p15:guide id="8" pos="4241" userDrawn="1">
          <p15:clr>
            <a:srgbClr val="A4A3A4"/>
          </p15:clr>
        </p15:guide>
        <p15:guide id="9" pos="3560" userDrawn="1">
          <p15:clr>
            <a:srgbClr val="A4A3A4"/>
          </p15:clr>
        </p15:guide>
        <p15:guide id="10" pos="4921" userDrawn="1">
          <p15:clr>
            <a:srgbClr val="A4A3A4"/>
          </p15:clr>
        </p15:guide>
        <p15:guide id="11" pos="2200" userDrawn="1">
          <p15:clr>
            <a:srgbClr val="A4A3A4"/>
          </p15:clr>
        </p15:guide>
        <p15:guide id="12" pos="8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3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rardo Valenzuela Saá PMP ©" initials="GVSP©" lastIdx="1" clrIdx="0">
    <p:extLst>
      <p:ext uri="{19B8F6BF-5375-455C-9EA6-DF929625EA0E}">
        <p15:presenceInfo xmlns:p15="http://schemas.microsoft.com/office/powerpoint/2012/main" userId="9f53a2e7fc42b65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CC3300"/>
    <a:srgbClr val="FF9999"/>
    <a:srgbClr val="FF9966"/>
    <a:srgbClr val="FFCC66"/>
    <a:srgbClr val="FFFFCC"/>
    <a:srgbClr val="0097A9"/>
    <a:srgbClr val="DDDDDD"/>
    <a:srgbClr val="646464"/>
    <a:srgbClr val="7777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0065" autoAdjust="0"/>
  </p:normalViewPr>
  <p:slideViewPr>
    <p:cSldViewPr>
      <p:cViewPr varScale="1">
        <p:scale>
          <a:sx n="83" d="100"/>
          <a:sy n="83" d="100"/>
        </p:scale>
        <p:origin x="1406" y="288"/>
      </p:cViewPr>
      <p:guideLst>
        <p:guide pos="2880"/>
        <p:guide orient="horz" pos="1620"/>
        <p:guide pos="158"/>
        <p:guide pos="5602"/>
        <p:guide pos="1519"/>
        <p:guide pos="4241"/>
        <p:guide pos="3560"/>
        <p:guide pos="4921"/>
        <p:guide pos="2200"/>
        <p:guide pos="839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1776"/>
    </p:cViewPr>
  </p:sorterViewPr>
  <p:notesViewPr>
    <p:cSldViewPr showGuides="1">
      <p:cViewPr varScale="1">
        <p:scale>
          <a:sx n="54" d="100"/>
          <a:sy n="54" d="100"/>
        </p:scale>
        <p:origin x="3293" y="58"/>
      </p:cViewPr>
      <p:guideLst>
        <p:guide orient="horz" pos="3223"/>
        <p:guide pos="2236"/>
      </p:guideLst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672" cy="51274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088" y="0"/>
            <a:ext cx="3076672" cy="51274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AC6A0C-09EA-4B26-8FDF-2093601875CA}" type="datetimeFigureOut">
              <a:rPr lang="es-CL" smtClean="0"/>
              <a:t>15-03-2025</a:t>
            </a:fld>
            <a:endParaRPr lang="es-C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39" y="4926086"/>
            <a:ext cx="5678824" cy="402920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68"/>
            <a:ext cx="3076672" cy="51274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088" y="9721868"/>
            <a:ext cx="3076672" cy="51274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6F592A-73E2-4CE7-BDD3-0F018F68AF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4760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?>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D7CD553D-50C4-78AE-8731-D7B71C188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17250" y="56856"/>
            <a:ext cx="1075035" cy="360000"/>
          </a:xfrm>
          <a:prstGeom prst="rect">
            <a:avLst/>
          </a:prstGeom>
        </p:spPr>
      </p:pic>
      <p:pic>
        <p:nvPicPr>
          <p:cNvPr id="5" name="Imagen 4" descr="Imagen que contiene Gráfico&#10;&#10;Descripción generada automáticamente">
            <a:extLst>
              <a:ext uri="{FF2B5EF4-FFF2-40B4-BE49-F238E27FC236}">
                <a16:creationId xmlns:a16="http://schemas.microsoft.com/office/drawing/2014/main" id="{F8983E74-CAD4-4048-4E03-AFB8FD5BBEB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14" y="5473"/>
            <a:ext cx="1354738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8839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4" orient="horz" pos="3072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5">
            <a:extLst>
              <a:ext uri="{FF2B5EF4-FFF2-40B4-BE49-F238E27FC236}">
                <a16:creationId xmlns:a16="http://schemas.microsoft.com/office/drawing/2014/main" id="{C8963E06-A060-8D56-D447-F77C134BA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vert="horz" wrap="none" lIns="36000" tIns="36000" rIns="36000" bIns="36000" rtlCol="0" anchor="ctr" anchorCtr="1">
            <a:spAutoFit/>
          </a:bodyPr>
          <a:lstStyle>
            <a:lvl1pPr algn="r">
              <a:defRPr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9422E07-F3AB-434B-B73D-CCEE95E66D37}" type="slidenum">
              <a:rPr lang="es-CL" smtClean="0"/>
              <a:pPr/>
              <a:t>‹Nº›</a:t>
            </a:fld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970076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orient="horz" pos="441" userDrawn="1">
          <p15:clr>
            <a:srgbClr val="F26B43"/>
          </p15:clr>
        </p15:guide>
        <p15:guide id="4" orient="horz" pos="259" userDrawn="1">
          <p15:clr>
            <a:srgbClr val="F26B43"/>
          </p15:clr>
        </p15:guide>
        <p15:guide id="5" orient="horz" pos="3072" userDrawn="1">
          <p15:clr>
            <a:srgbClr val="F26B43"/>
          </p15:clr>
        </p15:guide>
        <p15:guide id="6" pos="158" userDrawn="1">
          <p15:clr>
            <a:srgbClr val="F26B43"/>
          </p15:clr>
        </p15:guide>
        <p15:guide id="7" pos="5602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100" name="big"/>
          <p:cNvSpPr txBox="1"/>
          <p:nvPr/>
        </p:nvSpPr>
        <p:spPr>
          <a:xfrm>
            <a:off x="269083" y="1500000"/>
            <a:ext cx="8605834" cy="140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ctr">
              <a:spcBef>
                <a:spcPts val="400"/>
              </a:spcBef>
              <a:buNone/>
            </a:pPr>
            <a:r>
              <a:rPr lang="es-CL" sz="3200" b="1" i="0" dirty="0">
                <a:solidFill>
                  <a:srgbClr val="0070C0"/>
                </a:solidFill>
                <a:latin typeface="Montserrat"/>
                <a:cs typeface="Montserrat"/>
              </a:rPr>
              <a:t>Reporte de Ejecución, Monitoreo y Control</a:t>
            </a:r>
          </a:p>
          <a:p>
            <a:pPr marL="0" indent="0" lvl="0" algn="ctr">
              <a:spcBef>
                <a:spcPts val="600"/>
              </a:spcBef>
              <a:buNone/>
            </a:pPr>
            <a:r>
              <a:rPr lang="es-CL" sz="1600" b="0" i="0" dirty="0">
                <a:solidFill>
                  <a:schemeClr val="tx1"/>
                </a:solidFill>
                <a:latin typeface="Arial"/>
                <a:cs typeface="Arial"/>
              </a:rPr>
              <a:t>Sistema de Gestión de Inventario para Botillería Local — MVP</a:t>
            </a:r>
          </a:p>
        </p:txBody>
      </p:sp>
      <p:sp>
        <p:nvSpPr>
          <p:cNvPr id="101" name="sub"/>
          <p:cNvSpPr txBox="1"/>
          <p:nvPr/>
        </p:nvSpPr>
        <p:spPr>
          <a:xfrm>
            <a:off x="269083" y="3050000"/>
            <a:ext cx="8605834" cy="150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ctr">
              <a:spcBef>
                <a:spcPts val="400"/>
              </a:spcBef>
              <a:buNone/>
            </a:pPr>
            <a:r>
              <a:rPr lang="es-CL" sz="1100" b="1" i="0" dirty="0">
                <a:solidFill>
                  <a:srgbClr val="595959"/>
                </a:solidFill>
                <a:latin typeface="Arial"/>
                <a:cs typeface="Arial"/>
              </a:rPr>
              <a:t>Trabajo #3  ·  IIG4701 Taller de Gestión de Proyectos  ·  16 de junio de 2026</a:t>
            </a:r>
          </a:p>
          <a:p>
            <a:pPr marL="0" indent="0" lvl="0" algn="ctr">
              <a:spcBef>
                <a:spcPts val="50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Grupo Verde</a:t>
            </a:r>
          </a:p>
          <a:p>
            <a:pPr marL="0" indent="0" lvl="0" algn="ctr">
              <a:spcBef>
                <a:spcPts val="300"/>
              </a:spcBef>
              <a:buNone/>
            </a:pPr>
            <a:r>
              <a:rPr lang="es-CL" sz="1050" b="0" i="0" dirty="0">
                <a:solidFill>
                  <a:schemeClr val="tx1"/>
                </a:solidFill>
                <a:latin typeface="Arial"/>
                <a:cs typeface="Arial"/>
              </a:rPr>
              <a:t>Matías Arriagada (Director)  ·  Pedro Faúndez  ·  Alejandro Uribe  ·  Bryan Alfaro</a:t>
            </a:r>
          </a:p>
          <a:p>
            <a:pPr marL="0" indent="0" lvl="0" algn="ctr">
              <a:spcBef>
                <a:spcPts val="150"/>
              </a:spcBef>
              <a:buNone/>
            </a:pPr>
            <a:r>
              <a:rPr lang="es-CL" sz="1050" b="0" i="0" dirty="0">
                <a:solidFill>
                  <a:schemeClr val="tx1"/>
                </a:solidFill>
                <a:latin typeface="Arial"/>
                <a:cs typeface="Arial"/>
              </a:rPr>
              <a:t>Jeremy Hernández  ·  Vicente Riquelme  ·  José Alarcón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92" name="Titulo"/>
          <p:cNvSpPr txBox="1"/>
          <p:nvPr/>
        </p:nvSpPr>
        <p:spPr>
          <a:xfrm>
            <a:off x="269083" y="233758"/>
            <a:ext cx="8336000" cy="430000"/>
          </a:xfrm>
          <a:prstGeom prst="rect">
            <a:avLst/>
          </a:prstGeom>
          <a:noFill/>
        </p:spPr>
        <p:txBody>
          <a:bodyPr wrap="square" lIns="36000" tIns="0" rIns="36000" bIns="0" anchor="t">
            <a:normAutofit/>
          </a:bodyPr>
          <a:lstStyle/>
          <a:p>
            <a:pPr algn="l"/>
            <a:r>
              <a:rPr lang="es-CL" sz="2000" b="1" dirty="0">
                <a:solidFill>
                  <a:srgbClr val="0070C0"/>
                </a:solidFill>
                <a:latin typeface="Montserrat"/>
                <a:cs typeface="Arial"/>
              </a:rPr>
              <a:t>Estado general del proyecto</a:t>
            </a:r>
          </a:p>
        </p:txBody>
      </p:sp>
      <p:sp>
        <p:nvSpPr>
          <p:cNvPr id="110" name="avance"/>
          <p:cNvSpPr txBox="1"/>
          <p:nvPr/>
        </p:nvSpPr>
        <p:spPr>
          <a:xfrm>
            <a:off x="269083" y="760000"/>
            <a:ext cx="8336000" cy="47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l">
              <a:spcBef>
                <a:spcPts val="0"/>
              </a:spcBef>
              <a:buNone/>
            </a:pPr>
            <a:r>
              <a:rPr lang="es-CL" sz="1100" b="1" i="0" dirty="0">
                <a:solidFill>
                  <a:srgbClr val="0070C0"/>
                </a:solidFill>
                <a:latin typeface="Arial"/>
                <a:cs typeface="Arial"/>
              </a:rPr>
              <a:t>Avance global ≈ 80%. Métrica: hitos ponderados por esfuerzo — H-0 a H-3 completados (incluye desarrollo e integración, de mayor peso); H-4, H-5 y H-6 en curso.</a:t>
            </a:r>
          </a:p>
        </p:txBody>
      </p:sp>
      <p:graphicFrame>
        <p:nvGraphicFramePr>
          <p:cNvPr id="111" name="Tabla111"/>
          <p:cNvGraphicFramePr>
            <a:graphicFrameLocks noGrp="1"/>
          </p:cNvGraphicFramePr>
          <p:nvPr/>
        </p:nvGraphicFramePr>
        <p:xfrm>
          <a:off x="269083" y="1270000"/>
          <a:ext cx="8336000" cy="2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1500000"/>
                <a:gridCol w="3836000"/>
              </a:tblGrid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Hito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Estado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Observación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H-0 Documento de Proyecto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Completado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Gestión, alcance y comunicación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H-1 Diseño de Solución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Completado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Arquitectura y modelo de datos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H-2 Plan de Adquisiciones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Completado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Plan definido; compra del lector pendiente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H-3 Desarrollo e Integración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Completado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MVP funcional en entorno local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H-4 Documento de Pruebas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En curso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Pruebas en ejecución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H-5 Manual de Usuario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En curso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Borrador completo, en revisión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H-6 Presentación Final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En curso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Esta presentación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2" name="pve"/>
          <p:cNvSpPr txBox="1"/>
          <p:nvPr/>
        </p:nvSpPr>
        <p:spPr>
          <a:xfrm>
            <a:off x="269083" y="4470000"/>
            <a:ext cx="8336000" cy="37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l">
              <a:spcBef>
                <a:spcPts val="0"/>
              </a:spcBef>
              <a:buNone/>
            </a:pPr>
            <a:r>
              <a:rPr lang="es-CL" sz="1000" b="0" i="1" dirty="0">
                <a:solidFill>
                  <a:srgbClr val="595959"/>
                </a:solidFill>
                <a:latin typeface="Arial"/>
                <a:cs typeface="Arial"/>
              </a:rPr>
              <a:t>Plan vs. ejecutado: semana 13 de 15. El núcleo del alcance se cumplió; hubo un cambio de alcance (producto para comercialización) y se retrasaron las pruebas del lector por la adquisición pendiente.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92" name="Titulo"/>
          <p:cNvSpPr txBox="1"/>
          <p:nvPr/>
        </p:nvSpPr>
        <p:spPr>
          <a:xfrm>
            <a:off x="269083" y="233758"/>
            <a:ext cx="8336000" cy="430000"/>
          </a:xfrm>
          <a:prstGeom prst="rect">
            <a:avLst/>
          </a:prstGeom>
          <a:noFill/>
        </p:spPr>
        <p:txBody>
          <a:bodyPr wrap="square" lIns="36000" tIns="0" rIns="36000" bIns="0" anchor="t">
            <a:normAutofit/>
          </a:bodyPr>
          <a:lstStyle/>
          <a:p>
            <a:pPr algn="l"/>
            <a:r>
              <a:rPr lang="es-CL" sz="2000" b="1" dirty="0">
                <a:solidFill>
                  <a:srgbClr val="0070C0"/>
                </a:solidFill>
                <a:latin typeface="Montserrat"/>
                <a:cs typeface="Arial"/>
              </a:rPr>
              <a:t>Análisis de variaciones: alcance y tiempo</a:t>
            </a:r>
          </a:p>
        </p:txBody>
      </p:sp>
      <p:graphicFrame>
        <p:nvGraphicFramePr>
          <p:cNvPr id="120" name="Tabla120"/>
          <p:cNvGraphicFramePr>
            <a:graphicFrameLocks noGrp="1"/>
          </p:cNvGraphicFramePr>
          <p:nvPr/>
        </p:nvGraphicFramePr>
        <p:xfrm>
          <a:off x="269083" y="760000"/>
          <a:ext cx="8336000" cy="2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000"/>
                <a:gridCol w="2600000"/>
                <a:gridCol w="2600000"/>
                <a:gridCol w="1736000"/>
              </a:tblGrid>
              <a:tr h="680000"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Dimensión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Planificado (PMP)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Ejecutado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Variación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</a:tr>
              <a:tr h="68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Alcance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Sistema a medida instalado y validado en el local del cliente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Producto de inventario (MVP); pruebas realizadas por el equipo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Cambio de alcance (ver L5)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8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Tiempo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15 semanas; pruebas en S12–S13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Semana 13; pruebas iniciadas con retraso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Atraso en H-4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1" name="an"/>
          <p:cNvSpPr txBox="1"/>
          <p:nvPr/>
        </p:nvSpPr>
        <p:spPr>
          <a:xfrm>
            <a:off x="269083" y="2850000"/>
            <a:ext cx="8336000" cy="190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l">
              <a:spcBef>
                <a:spcPts val="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Análisis de las desviaciones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Causa: redefinición del alcance — de una solución a medida a un producto comercializable — y la adquisición del lector no concretada.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Impacto: ya no hay implementación ni validación en el local de un cliente; las pruebas las ejecuta el equipo (QA) y se desplazan las del lector (H-4).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Medidas: lector en préstamo para validar la integración (respaldo de ingreso manual disponible); pruebas y validación asumidas por el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92" name="Titulo"/>
          <p:cNvSpPr txBox="1"/>
          <p:nvPr/>
        </p:nvSpPr>
        <p:spPr>
          <a:xfrm>
            <a:off x="269083" y="233758"/>
            <a:ext cx="8336000" cy="430000"/>
          </a:xfrm>
          <a:prstGeom prst="rect">
            <a:avLst/>
          </a:prstGeom>
          <a:noFill/>
        </p:spPr>
        <p:txBody>
          <a:bodyPr wrap="square" lIns="36000" tIns="0" rIns="36000" bIns="0" anchor="t">
            <a:normAutofit/>
          </a:bodyPr>
          <a:lstStyle/>
          <a:p>
            <a:pPr algn="l"/>
            <a:r>
              <a:rPr lang="es-CL" sz="2000" b="1" dirty="0">
                <a:solidFill>
                  <a:srgbClr val="0070C0"/>
                </a:solidFill>
                <a:latin typeface="Montserrat"/>
                <a:cs typeface="Arial"/>
              </a:rPr>
              <a:t>Análisis de variaciones: costos</a:t>
            </a:r>
          </a:p>
        </p:txBody>
      </p:sp>
      <p:graphicFrame>
        <p:nvGraphicFramePr>
          <p:cNvPr id="130" name="Tabla130"/>
          <p:cNvGraphicFramePr>
            <a:graphicFrameLocks noGrp="1"/>
          </p:cNvGraphicFramePr>
          <p:nvPr/>
        </p:nvGraphicFramePr>
        <p:xfrm>
          <a:off x="269083" y="760000"/>
          <a:ext cx="8336000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6000"/>
                <a:gridCol w="1500000"/>
                <a:gridCol w="1500000"/>
                <a:gridCol w="1400000"/>
              </a:tblGrid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Ítem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Planificado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Ejecutado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Variación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Lector de código de barras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$20.000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$0 (pendiente)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–$20.000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Computador local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$0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$0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$0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Herramientas de desarrollo / SQLite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$0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$0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$0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Total referencial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$20.000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$0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–$20.000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9E1F2"/>
                    </a:solidFill>
                  </a:tcPr>
                </a:tc>
              </a:tr>
            </a:tbl>
          </a:graphicData>
        </a:graphic>
      </p:graphicFrame>
      <p:sp>
        <p:nvSpPr>
          <p:cNvPr id="131" name="an4"/>
          <p:cNvSpPr txBox="1"/>
          <p:nvPr/>
        </p:nvSpPr>
        <p:spPr>
          <a:xfrm>
            <a:off x="269083" y="2550000"/>
            <a:ext cx="8336000" cy="210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l">
              <a:spcBef>
                <a:spcPts val="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Interpretación de la variación de costo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La variación es favorable solo en apariencia: NO representa un ahorro real, sino una adquisición aún no ejecutada.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El costo se materializará al adquirir el lector; para las pruebas se usa un equipo en préstamo (costo $0 para el proyecto).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El presupuesto del proyecto se mantiene muy acotado y bajo control (≤ $20.000 CLP).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92" name="Titulo"/>
          <p:cNvSpPr txBox="1"/>
          <p:nvPr/>
        </p:nvSpPr>
        <p:spPr>
          <a:xfrm>
            <a:off x="269083" y="233758"/>
            <a:ext cx="8336000" cy="430000"/>
          </a:xfrm>
          <a:prstGeom prst="rect">
            <a:avLst/>
          </a:prstGeom>
          <a:noFill/>
        </p:spPr>
        <p:txBody>
          <a:bodyPr wrap="square" lIns="36000" tIns="0" rIns="36000" bIns="0" anchor="t">
            <a:normAutofit/>
          </a:bodyPr>
          <a:lstStyle/>
          <a:p>
            <a:pPr algn="l"/>
            <a:r>
              <a:rPr lang="es-CL" sz="2000" b="1" dirty="0">
                <a:solidFill>
                  <a:srgbClr val="0070C0"/>
                </a:solidFill>
                <a:latin typeface="Montserrat"/>
                <a:cs typeface="Arial"/>
              </a:rPr>
              <a:t>Gestión del alcance y cambios</a:t>
            </a:r>
          </a:p>
        </p:txBody>
      </p:sp>
      <p:graphicFrame>
        <p:nvGraphicFramePr>
          <p:cNvPr id="140" name="Tabla140"/>
          <p:cNvGraphicFramePr>
            <a:graphicFrameLocks noGrp="1"/>
          </p:cNvGraphicFramePr>
          <p:nvPr/>
        </p:nvGraphicFramePr>
        <p:xfrm>
          <a:off x="269083" y="760000"/>
          <a:ext cx="8336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2400000"/>
                <a:gridCol w="2200000"/>
                <a:gridCol w="1236000"/>
              </a:tblGrid>
              <a:tr h="900000"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Cambio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Justificación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Impacto (plazo/costo/calidad)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Control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C1: Ejecutable de escritorio → aplicación web local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Portabilidad, menor fricción de instalación y mejor mantenibilidad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Plazo: neutro · Costo: $0 · Calidad: acceso desde navegador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Evaluado por el equipo y aprobado por el director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C2: De solución a medida (un cliente) a producto de inventario para comercialización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Mayor valor y escalabilidad; corrige la inconsistencia inicial sobre el cliente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Plazo: neutro · Costo: $0 · Calidad: + mercado, – validación de usuario real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Cambio de alcance evaluado y registrado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1" name="an5"/>
          <p:cNvSpPr txBox="1"/>
          <p:nvPr/>
        </p:nvSpPr>
        <p:spPr>
          <a:xfrm>
            <a:off x="269083" y="3680000"/>
            <a:ext cx="8336000" cy="110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l">
              <a:spcBef>
                <a:spcPts val="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Mecanismo de control de cambios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Ambos cambios fueron deliberados y acotados al MVP (sin scope creep no controlado): se evaluaron en equipo, los aprobó el director y se registraron como cambio de alcance. La redefinición ajusta el criterio de éxito: de la aceptación de un cliente a un MVP funcional validado por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92" name="Titulo"/>
          <p:cNvSpPr txBox="1"/>
          <p:nvPr/>
        </p:nvSpPr>
        <p:spPr>
          <a:xfrm>
            <a:off x="269083" y="233758"/>
            <a:ext cx="8336000" cy="430000"/>
          </a:xfrm>
          <a:prstGeom prst="rect">
            <a:avLst/>
          </a:prstGeom>
          <a:noFill/>
        </p:spPr>
        <p:txBody>
          <a:bodyPr wrap="square" lIns="36000" tIns="0" rIns="36000" bIns="0" anchor="t">
            <a:normAutofit/>
          </a:bodyPr>
          <a:lstStyle/>
          <a:p>
            <a:pPr algn="l"/>
            <a:r>
              <a:rPr lang="es-CL" sz="2000" b="1" dirty="0">
                <a:solidFill>
                  <a:srgbClr val="0070C0"/>
                </a:solidFill>
                <a:latin typeface="Montserrat"/>
                <a:cs typeface="Arial"/>
              </a:rPr>
              <a:t>Gestión de riesgos: materializados</a:t>
            </a:r>
          </a:p>
        </p:txBody>
      </p:sp>
      <p:graphicFrame>
        <p:nvGraphicFramePr>
          <p:cNvPr id="150" name="Tabla150"/>
          <p:cNvGraphicFramePr>
            <a:graphicFrameLocks noGrp="1"/>
          </p:cNvGraphicFramePr>
          <p:nvPr/>
        </p:nvGraphicFramePr>
        <p:xfrm>
          <a:off x="269083" y="760000"/>
          <a:ext cx="8336000" cy="1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1700000"/>
                <a:gridCol w="1900000"/>
                <a:gridCol w="2136000"/>
              </a:tblGrid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Riesgo materializado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¿En el PMP?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Impacto real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Respuesta planificada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No disponibilidad / integración del lector de código de barras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Sí — Prob. Baja / Imp. Alto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Atraso de las pruebas de integración (H-4)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Pruebas funcionales + respaldo manual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1" name="an6"/>
          <p:cNvSpPr txBox="1"/>
          <p:nvPr/>
        </p:nvSpPr>
        <p:spPr>
          <a:xfrm>
            <a:off x="269083" y="2050000"/>
            <a:ext cx="8336000" cy="265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l">
              <a:spcBef>
                <a:spcPts val="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Efectividad y análisis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Efectividad: parcial. El respaldo manual (ingreso y búsqueda manual) mantuvo operativo el sistema aun sin el lector.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El riesgo estaba identificado en el PMP, por lo que la respuesta no fue improvisada: el diseño no dependía exclusivamente del lector.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Reservas: el PMP no definió una reserva de contingencia monetaria; la respuesta fue de gestión (conseguir el equipo en préstamo), sin costo.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Acción pendiente: validar la integración del lector con el equipo en préstamo antes del cierre.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92" name="Titulo"/>
          <p:cNvSpPr txBox="1"/>
          <p:nvPr/>
        </p:nvSpPr>
        <p:spPr>
          <a:xfrm>
            <a:off x="269083" y="233758"/>
            <a:ext cx="8336000" cy="430000"/>
          </a:xfrm>
          <a:prstGeom prst="rect">
            <a:avLst/>
          </a:prstGeom>
          <a:noFill/>
        </p:spPr>
        <p:txBody>
          <a:bodyPr wrap="square" lIns="36000" tIns="0" rIns="36000" bIns="0" anchor="t">
            <a:normAutofit/>
          </a:bodyPr>
          <a:lstStyle/>
          <a:p>
            <a:pPr algn="l"/>
            <a:r>
              <a:rPr lang="es-CL" sz="2000" b="1" dirty="0">
                <a:solidFill>
                  <a:srgbClr val="0070C0"/>
                </a:solidFill>
                <a:latin typeface="Montserrat"/>
                <a:cs typeface="Arial"/>
              </a:rPr>
              <a:t>Gestión de riesgos: nuevos y residuales</a:t>
            </a:r>
          </a:p>
        </p:txBody>
      </p:sp>
      <p:graphicFrame>
        <p:nvGraphicFramePr>
          <p:cNvPr id="160" name="Tabla160"/>
          <p:cNvGraphicFramePr>
            <a:graphicFrameLocks noGrp="1"/>
          </p:cNvGraphicFramePr>
          <p:nvPr/>
        </p:nvGraphicFramePr>
        <p:xfrm>
          <a:off x="269083" y="760000"/>
          <a:ext cx="8336000" cy="19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2400000"/>
                <a:gridCol w="3036000"/>
              </a:tblGrid>
              <a:tr h="650000"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Nuevo riesgo (en ejecución)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Origen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Tratamiento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</a:tr>
              <a:tr h="65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Ausencia de validación de un usuario / cliente real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Cambio de alcance a producto comercial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Validación por el equipo (QA) y validación académica; usuario piloto para una 2ª etapa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Cambio de liderazgo del proyecto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Gestión del equipo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Traspaso de contexto del ex director, roles definidos y apoyo cruzado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61" name="an7"/>
          <p:cNvSpPr txBox="1"/>
          <p:nvPr/>
        </p:nvSpPr>
        <p:spPr>
          <a:xfrm>
            <a:off x="269083" y="2880000"/>
            <a:ext cx="8336000" cy="185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l">
              <a:spcBef>
                <a:spcPts val="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Riesgos residuales y su tratamiento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Integración del lector no validada al 100% → se valida con el equipo en préstamo antes del cierre.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Validación con usuario real fuera del alcance actual → queda para una eventual etapa de comercialización.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Riesgos residuales acotados y con acción definida; no bloquean el avance hacia el cierre.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92" name="Titulo"/>
          <p:cNvSpPr txBox="1"/>
          <p:nvPr/>
        </p:nvSpPr>
        <p:spPr>
          <a:xfrm>
            <a:off x="269083" y="233758"/>
            <a:ext cx="8336000" cy="430000"/>
          </a:xfrm>
          <a:prstGeom prst="rect">
            <a:avLst/>
          </a:prstGeom>
          <a:noFill/>
        </p:spPr>
        <p:txBody>
          <a:bodyPr wrap="square" lIns="36000" tIns="0" rIns="36000" bIns="0" anchor="t">
            <a:normAutofit/>
          </a:bodyPr>
          <a:lstStyle/>
          <a:p>
            <a:pPr algn="l"/>
            <a:r>
              <a:rPr lang="es-CL" sz="2000" b="1" dirty="0">
                <a:solidFill>
                  <a:srgbClr val="0070C0"/>
                </a:solidFill>
                <a:latin typeface="Montserrat"/>
                <a:cs typeface="Arial"/>
              </a:rPr>
              <a:t>Partes interesadas y comunicaciones</a:t>
            </a:r>
          </a:p>
        </p:txBody>
      </p:sp>
      <p:sp>
        <p:nvSpPr>
          <p:cNvPr id="170" name="pi"/>
          <p:cNvSpPr txBox="1"/>
          <p:nvPr/>
        </p:nvSpPr>
        <p:spPr>
          <a:xfrm>
            <a:off x="269083" y="760000"/>
            <a:ext cx="4100000" cy="390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l">
              <a:spcBef>
                <a:spcPts val="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Cambios en las partes interesadas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El cliente específico (Botillería Jano) sale del alcance por el cambio a producto comercial.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Stakeholders clave ahora: el equipo (desarrolla y valida), el docente y ayudante (validación académica) y el mercado / clientes potenciales (futuro).</a:t>
            </a:r>
          </a:p>
          <a:p>
            <a:pPr marL="0" indent="0" lvl="0" algn="l">
              <a:spcBef>
                <a:spcPts val="40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Involucramiento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Docente y ayudante: alto — validan el MVP en la sesión del 16/6.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Equipo: alto. Usuario / cliente real: sin participación en esta etapa.</a:t>
            </a:r>
          </a:p>
        </p:txBody>
      </p:sp>
      <p:sp>
        <p:nvSpPr>
          <p:cNvPr id="171" name="com"/>
          <p:cNvSpPr txBox="1"/>
          <p:nvPr/>
        </p:nvSpPr>
        <p:spPr>
          <a:xfrm>
            <a:off x="4500000" y="760000"/>
            <a:ext cx="4105000" cy="390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l">
              <a:spcBef>
                <a:spcPts val="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Comunicaciones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Plan interno basado en reuniones de coordinación y traspaso de contexto entre integrantes.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Problema principal: los cambios de liderazgo afectaron la continuidad de la comunicación.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Acción correctiva: traspaso documentado del ex director y roles claros para mantener el hilo del proyecto.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La validación se concreta con los stakeholders académicos en la sesión del 16/6.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92" name="Titulo"/>
          <p:cNvSpPr txBox="1"/>
          <p:nvPr/>
        </p:nvSpPr>
        <p:spPr>
          <a:xfrm>
            <a:off x="269083" y="233758"/>
            <a:ext cx="8336000" cy="430000"/>
          </a:xfrm>
          <a:prstGeom prst="rect">
            <a:avLst/>
          </a:prstGeom>
          <a:noFill/>
        </p:spPr>
        <p:txBody>
          <a:bodyPr wrap="square" lIns="36000" tIns="0" rIns="36000" bIns="0" anchor="t">
            <a:normAutofit/>
          </a:bodyPr>
          <a:lstStyle/>
          <a:p>
            <a:pPr algn="l"/>
            <a:r>
              <a:rPr lang="es-CL" sz="2000" b="1" dirty="0">
                <a:solidFill>
                  <a:srgbClr val="0070C0"/>
                </a:solidFill>
                <a:latin typeface="Montserrat"/>
                <a:cs typeface="Arial"/>
              </a:rPr>
              <a:t>Gestión del equipo y recursos</a:t>
            </a:r>
          </a:p>
        </p:txBody>
      </p:sp>
      <p:sp>
        <p:nvSpPr>
          <p:cNvPr id="180" name="eq"/>
          <p:cNvSpPr txBox="1"/>
          <p:nvPr/>
        </p:nvSpPr>
        <p:spPr>
          <a:xfrm>
            <a:off x="269083" y="760000"/>
            <a:ext cx="8336000" cy="390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l">
              <a:spcBef>
                <a:spcPts val="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Cambios en la conformación del equipo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El liderazgo del proyecto cambió dos veces durante su desarrollo; los directores anteriores ya no están en el equipo. Director actual: Matías Arriagada.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Roles vigentes (matriz del PMP): Jefe de Proyecto (Pedro), Arquitecto (Alejandro), QA (Bryan), Programadores (Jeremy / Vicente), Base de Datos (José).</a:t>
            </a:r>
          </a:p>
          <a:p>
            <a:pPr marL="0" indent="0" lvl="0" algn="l">
              <a:spcBef>
                <a:spcPts val="50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Problemas relevantes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Discontinuidad por la rotación de liderazgo y un recurso pendiente (lector de código de barras).</a:t>
            </a:r>
          </a:p>
          <a:p>
            <a:pPr marL="0" indent="0" lvl="0" algn="l">
              <a:spcBef>
                <a:spcPts val="500"/>
              </a:spcBef>
              <a:buNone/>
            </a:pPr>
            <a:r>
              <a:rPr lang="es-CL" sz="1200" b="1" i="0" dirty="0">
                <a:solidFill>
                  <a:srgbClr val="0070C0"/>
                </a:solidFill>
                <a:latin typeface="Arial"/>
                <a:cs typeface="Arial"/>
              </a:rPr>
              <a:t>Medidas adoptadas</a:t>
            </a:r>
          </a:p>
          <a:p>
            <a:pPr marL="285750" indent="-228600" lvl="0" algn="l">
              <a:spcBef>
                <a:spcPts val="400"/>
              </a:spcBef>
              <a:buFont typeface="Arial"/>
              <a:buChar char="•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Traspaso de contexto en cada cambio de dirección, apoyo cruzado entre integrantes y lector en préstamo para no detener las pruebas.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92" name="Titulo"/>
          <p:cNvSpPr txBox="1"/>
          <p:nvPr/>
        </p:nvSpPr>
        <p:spPr>
          <a:xfrm>
            <a:off x="269083" y="233758"/>
            <a:ext cx="8336000" cy="430000"/>
          </a:xfrm>
          <a:prstGeom prst="rect">
            <a:avLst/>
          </a:prstGeom>
          <a:noFill/>
        </p:spPr>
        <p:txBody>
          <a:bodyPr wrap="square" lIns="36000" tIns="0" rIns="36000" bIns="0" anchor="t">
            <a:normAutofit/>
          </a:bodyPr>
          <a:lstStyle/>
          <a:p>
            <a:pPr algn="l"/>
            <a:r>
              <a:rPr lang="es-CL" sz="2000" b="1" dirty="0">
                <a:solidFill>
                  <a:srgbClr val="0070C0"/>
                </a:solidFill>
                <a:latin typeface="Montserrat"/>
                <a:cs typeface="Arial"/>
              </a:rPr>
              <a:t>Toma de decisiones durante la ejecución</a:t>
            </a:r>
          </a:p>
        </p:txBody>
      </p:sp>
      <p:graphicFrame>
        <p:nvGraphicFramePr>
          <p:cNvPr id="190" name="Tabla190"/>
          <p:cNvGraphicFramePr>
            <a:graphicFrameLocks noGrp="1"/>
          </p:cNvGraphicFramePr>
          <p:nvPr/>
        </p:nvGraphicFramePr>
        <p:xfrm>
          <a:off x="269083" y="760000"/>
          <a:ext cx="8336000" cy="2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3000000"/>
                <a:gridCol w="2336000"/>
              </a:tblGrid>
              <a:tr h="470000"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Decisión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Justificación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1" i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Efecto en el desempeño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070C0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Migrar a aplicación web local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Portabilidad y mantenibilidad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MVP accesible desde el navegador, sin instalador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Redefinir el alcance a producto comercial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Escalabilidad y valor; corrige inconsistencia del cliente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Mayor alcance; la validación la asume el equipo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Usar un asistente de IA en el desarrollo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Cumplir el plazo; enfocar al equipo en requisitos, integración, pruebas y gestión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Desarrollo más rápido; el rol del equipo se desplaza a revisión y QA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Conseguir lector en préstamo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No bloquear las pruebas (H-4)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Permite validar la integración sin esperar la compra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Priorizar el MVP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Cumplir el plazo académico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1000" b="0" i="0" dirty="0">
                          <a:solidFill>
                            <a:schemeClr val="tx1"/>
                          </a:solidFill>
                          <a:latin typeface="Arial"/>
                          <a:cs typeface="Arial"/>
                        </a:rPr>
                        <a:t>Funciones complementarias postergadas a una 2ª etapa</a:t>
                      </a:r>
                    </a:p>
                  </a:txBody>
                  <a:tcPr marL="72000" marR="72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1" name="dp"/>
          <p:cNvSpPr txBox="1"/>
          <p:nvPr/>
        </p:nvSpPr>
        <p:spPr>
          <a:xfrm>
            <a:off x="269083" y="3980000"/>
            <a:ext cx="8336000" cy="76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0" indent="0" lvl="0" algn="l">
              <a:spcBef>
                <a:spcPts val="0"/>
              </a:spcBef>
              <a:buNone/>
            </a:pPr>
            <a:r>
              <a:rPr lang="es-CL" sz="1100" b="1" i="0" dirty="0">
                <a:solidFill>
                  <a:srgbClr val="595959"/>
                </a:solidFill>
                <a:latin typeface="Arial"/>
                <a:cs typeface="Arial"/>
              </a:rPr>
              <a:t>Decisiones pendientes / desafíos críticos: validar la integración del lector y obtener la validación de los stakeholders académicos en la presentación del 16/6.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92" name="Titulo"/>
          <p:cNvSpPr txBox="1"/>
          <p:nvPr/>
        </p:nvSpPr>
        <p:spPr>
          <a:xfrm>
            <a:off x="269083" y="233758"/>
            <a:ext cx="8336000" cy="430000"/>
          </a:xfrm>
          <a:prstGeom prst="rect">
            <a:avLst/>
          </a:prstGeom>
          <a:noFill/>
        </p:spPr>
        <p:txBody>
          <a:bodyPr wrap="square" lIns="36000" tIns="0" rIns="36000" bIns="0" anchor="t">
            <a:normAutofit/>
          </a:bodyPr>
          <a:lstStyle/>
          <a:p>
            <a:pPr algn="l"/>
            <a:r>
              <a:rPr lang="es-CL" sz="2000" b="1" dirty="0">
                <a:solidFill>
                  <a:srgbClr val="0070C0"/>
                </a:solidFill>
                <a:latin typeface="Montserrat"/>
                <a:cs typeface="Arial"/>
              </a:rPr>
              <a:t>Lecciones aprendidas</a:t>
            </a:r>
          </a:p>
        </p:txBody>
      </p:sp>
      <p:sp>
        <p:nvSpPr>
          <p:cNvPr id="200" name="le"/>
          <p:cNvSpPr txBox="1"/>
          <p:nvPr/>
        </p:nvSpPr>
        <p:spPr>
          <a:xfrm>
            <a:off x="269083" y="760000"/>
            <a:ext cx="8336000" cy="398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285750" indent="-228600" lvl="0" algn="l">
              <a:spcBef>
                <a:spcPts val="150"/>
              </a:spcBef>
              <a:buFont typeface="Arial"/>
              <a:buChar char="•"/>
            </a:pPr>
            <a:r>
              <a:rPr lang="es-CL" sz="1050" b="0" i="0" dirty="0">
                <a:solidFill>
                  <a:schemeClr val="tx1"/>
                </a:solidFill>
                <a:latin typeface="Arial"/>
                <a:cs typeface="Arial"/>
              </a:rPr>
              <a:t>Error detectado: subestimamos la gestión de adquisiciones; un ítem de $20.000 (el lector) se volvió el cuello de botella de las pruebas. → Se abordó consiguiendo el equipo en préstamo.</a:t>
            </a:r>
          </a:p>
          <a:p>
            <a:pPr marL="285750" indent="-228600" lvl="0" algn="l">
              <a:spcBef>
                <a:spcPts val="150"/>
              </a:spcBef>
              <a:buFont typeface="Arial"/>
              <a:buChar char="•"/>
            </a:pPr>
            <a:r>
              <a:rPr lang="es-CL" sz="1050" b="0" i="0" dirty="0">
                <a:solidFill>
                  <a:schemeClr val="tx1"/>
                </a:solidFill>
                <a:latin typeface="Arial"/>
                <a:cs typeface="Arial"/>
              </a:rPr>
              <a:t>Error detectado: el cambio de liderazgo afectó la continuidad. → Se abordó con traspaso documentado en cada cambio de dirección y roles claros.</a:t>
            </a:r>
          </a:p>
          <a:p>
            <a:pPr marL="285750" indent="-228600" lvl="0" algn="l">
              <a:spcBef>
                <a:spcPts val="150"/>
              </a:spcBef>
              <a:buFont typeface="Arial"/>
              <a:buChar char="•"/>
            </a:pPr>
            <a:r>
              <a:rPr lang="es-CL" sz="1050" b="0" i="0" dirty="0">
                <a:solidFill>
                  <a:schemeClr val="tx1"/>
                </a:solidFill>
                <a:latin typeface="Arial"/>
                <a:cs typeface="Arial"/>
              </a:rPr>
              <a:t>Aprendizaje: el asistente de IA aceleró el desarrollo, pero exigió que el equipo revisara, validara y probara el código; la herramienta no reemplaza el criterio del equipo.</a:t>
            </a:r>
          </a:p>
          <a:p>
            <a:pPr marL="285750" indent="-228600" lvl="0" algn="l">
              <a:spcBef>
                <a:spcPts val="150"/>
              </a:spcBef>
              <a:buFont typeface="Arial"/>
              <a:buChar char="•"/>
            </a:pPr>
            <a:r>
              <a:rPr lang="es-CL" sz="1050" b="0" i="0" dirty="0">
                <a:solidFill>
                  <a:schemeClr val="tx1"/>
                </a:solidFill>
                <a:latin typeface="Arial"/>
                <a:cs typeface="Arial"/>
              </a:rPr>
              <a:t>Aprendizaje: definir tempranamente la arquitectura (web vs. escritorio) evita retrabajo; el respaldo manual (no depender solo del lector) fue una mitigación efectiva.</a:t>
            </a:r>
          </a:p>
          <a:p>
            <a:pPr marL="285750" indent="-228600" lvl="0" algn="l">
              <a:spcBef>
                <a:spcPts val="150"/>
              </a:spcBef>
              <a:buFont typeface="Arial"/>
              <a:buChar char="•"/>
            </a:pPr>
            <a:r>
              <a:rPr lang="es-CL" sz="1050" b="0" i="0" dirty="0">
                <a:solidFill>
                  <a:schemeClr val="tx1"/>
                </a:solidFill>
                <a:latin typeface="Arial"/>
                <a:cs typeface="Arial"/>
              </a:rPr>
              <a:t>Aprendizaje: acotar el alcance al MVP permitió avanzar dentro del plazo.</a:t>
            </a:r>
          </a:p>
          <a:p>
            <a:pPr marL="0" indent="0" lvl="0" algn="l">
              <a:spcBef>
                <a:spcPts val="350"/>
              </a:spcBef>
              <a:buNone/>
            </a:pPr>
            <a:r>
              <a:rPr lang="es-CL" sz="1100" b="1" i="0" dirty="0">
                <a:solidFill>
                  <a:srgbClr val="0070C0"/>
                </a:solidFill>
                <a:latin typeface="Arial"/>
                <a:cs typeface="Arial"/>
              </a:rPr>
              <a:t>Recomendaciones para etapas / proyectos futuros</a:t>
            </a:r>
          </a:p>
          <a:p>
            <a:pPr marL="571500" indent="-228600" lvl="1" algn="l">
              <a:spcBef>
                <a:spcPts val="400"/>
              </a:spcBef>
              <a:buFont typeface="Arial"/>
              <a:buChar char="–"/>
            </a:pPr>
            <a:r>
              <a:rPr lang="es-CL" sz="1050" b="0" i="0" dirty="0">
                <a:solidFill>
                  <a:schemeClr val="tx1"/>
                </a:solidFill>
                <a:latin typeface="Arial"/>
                <a:cs typeface="Arial"/>
              </a:rPr>
              <a:t>Gestionar las adquisiciones desde el inicio, aun las de bajo costo, e incluir una reserva de contingencia.</a:t>
            </a:r>
          </a:p>
          <a:p>
            <a:pPr marL="571500" indent="-228600" lvl="1" algn="l">
              <a:spcBef>
                <a:spcPts val="400"/>
              </a:spcBef>
              <a:buFont typeface="Arial"/>
              <a:buChar char="–"/>
            </a:pPr>
            <a:r>
              <a:rPr lang="es-CL" sz="1050" b="0" i="0" dirty="0">
                <a:solidFill>
                  <a:schemeClr val="tx1"/>
                </a:solidFill>
                <a:latin typeface="Arial"/>
                <a:cs typeface="Arial"/>
              </a:rPr>
              <a:t>Documentar el traspaso de roles y validar tempranamente la salida de IA con pruebas del equipo.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Footer"/>
          <p:cNvGraphicFramePr>
            <a:graphicFrameLocks noGrp="1"/>
          </p:cNvGraphicFramePr>
          <p:nvPr/>
        </p:nvGraphicFramePr>
        <p:xfrm>
          <a:off x="0" y="4884027"/>
          <a:ext cx="9144000" cy="258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2267832"/>
                <a:gridCol w="6084168"/>
              </a:tblGrid>
              <a:tr h="258617">
                <a:tc>
                  <a:txBody>
                    <a:bodyPr/>
                    <a:lstStyle/>
                    <a:p>
                      <a:pPr algn="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IIG4701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Taller de Gestión de Proyectos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9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ptos"/>
                        </a:rPr>
                        <a:t>Arriagada · Faúndez · Uribe · Alfaro · Hernández · Riquelme · Alarcón</a:t>
                      </a:r>
                    </a:p>
                  </a:txBody>
                  <a:tcPr marL="36000" marR="3600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1" name="SlideNum"/>
          <p:cNvSpPr txBox="1">
            <a:spLocks/>
          </p:cNvSpPr>
          <p:nvPr/>
        </p:nvSpPr>
        <p:spPr>
          <a:xfrm>
            <a:off x="8845274" y="4893171"/>
            <a:ext cx="298726" cy="259200"/>
          </a:xfrm>
          <a:prstGeom prst="rect">
            <a:avLst/>
          </a:prstGeom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fld id="{19422E07-F3AB-434B-B73D-CCEE95E66D37}" type="slidenum">
              <a:rPr lang="es-CL" sz="1000" b="1">
                <a:latin typeface="Arial"/>
              </a:rPr>
              <a:t>1</a:t>
            </a:fld>
          </a:p>
        </p:txBody>
      </p:sp>
      <p:sp>
        <p:nvSpPr>
          <p:cNvPr id="92" name="Titulo"/>
          <p:cNvSpPr txBox="1"/>
          <p:nvPr/>
        </p:nvSpPr>
        <p:spPr>
          <a:xfrm>
            <a:off x="269083" y="233758"/>
            <a:ext cx="8336000" cy="430000"/>
          </a:xfrm>
          <a:prstGeom prst="rect">
            <a:avLst/>
          </a:prstGeom>
          <a:noFill/>
        </p:spPr>
        <p:txBody>
          <a:bodyPr wrap="square" lIns="36000" tIns="0" rIns="36000" bIns="0" anchor="t">
            <a:normAutofit/>
          </a:bodyPr>
          <a:lstStyle/>
          <a:p>
            <a:pPr algn="l"/>
            <a:r>
              <a:rPr lang="es-CL" sz="2000" b="1" dirty="0">
                <a:solidFill>
                  <a:srgbClr val="0070C0"/>
                </a:solidFill>
                <a:latin typeface="Montserrat"/>
                <a:cs typeface="Arial"/>
              </a:rPr>
              <a:t>Conclusiones</a:t>
            </a:r>
          </a:p>
        </p:txBody>
      </p:sp>
      <p:sp>
        <p:nvSpPr>
          <p:cNvPr id="210" name="co"/>
          <p:cNvSpPr txBox="1"/>
          <p:nvPr/>
        </p:nvSpPr>
        <p:spPr>
          <a:xfrm>
            <a:off x="269083" y="760000"/>
            <a:ext cx="8336000" cy="3900000"/>
          </a:xfrm>
          <a:prstGeom prst="rect">
            <a:avLst/>
          </a:prstGeom>
          <a:noFill/>
        </p:spPr>
        <p:txBody>
          <a:bodyPr wrap="square" lIns="36000" tIns="18000" rIns="36000" bIns="18000" rtlCol="0" anchor="t">
            <a:normAutofit/>
          </a:bodyPr>
          <a:lstStyle/>
          <a:p>
            <a:pPr marL="285750" indent="-228600" lvl="0" algn="l">
              <a:spcBef>
                <a:spcPts val="200"/>
              </a:spcBef>
              <a:buFont typeface="Arial"/>
              <a:buChar char="•"/>
            </a:pPr>
            <a:r>
              <a:rPr lang="es-CL" sz="1150" b="0" i="0" dirty="0">
                <a:solidFill>
                  <a:schemeClr val="tx1"/>
                </a:solidFill>
                <a:latin typeface="Arial"/>
                <a:cs typeface="Arial"/>
              </a:rPr>
              <a:t>Desempeño global: avance ~80%, con un MVP funcional construido y operativo en entorno local.</a:t>
            </a:r>
          </a:p>
          <a:p>
            <a:pPr marL="285750" indent="-228600" lvl="0" algn="l">
              <a:spcBef>
                <a:spcPts val="200"/>
              </a:spcBef>
              <a:buFont typeface="Arial"/>
              <a:buChar char="•"/>
            </a:pPr>
            <a:r>
              <a:rPr lang="es-CL" sz="1150" b="0" i="0" dirty="0">
                <a:solidFill>
                  <a:schemeClr val="tx1"/>
                </a:solidFill>
                <a:latin typeface="Arial"/>
                <a:cs typeface="Arial"/>
              </a:rPr>
              <a:t>Cumplimiento de objetivos: registro de productos, control de stock, alertas y movimientos LOGRADOS; reportes básicos disponibles. Pendiente: validación del lector; la validación con un usuario real queda fuera del alcance actual.</a:t>
            </a:r>
          </a:p>
          <a:p>
            <a:pPr marL="285750" indent="-228600" lvl="0" algn="l">
              <a:spcBef>
                <a:spcPts val="300"/>
              </a:spcBef>
              <a:buFont typeface="Arial"/>
              <a:buChar char="•"/>
            </a:pPr>
            <a:r>
              <a:rPr lang="es-CL" sz="1150" b="1" i="0" dirty="0">
                <a:solidFill>
                  <a:srgbClr val="0070C0"/>
                </a:solidFill>
                <a:latin typeface="Arial"/>
                <a:cs typeface="Arial"/>
              </a:rPr>
              <a:t>¿En condiciones de cierre?  Aún NO. El proyecto SÍ está en condiciones de AVANZAR HACIA el cierre, sujeto a:</a:t>
            </a:r>
          </a:p>
          <a:p>
            <a:pPr marL="571500" indent="-228600" lvl="1" algn="l">
              <a:spcBef>
                <a:spcPts val="400"/>
              </a:spcBef>
              <a:buFont typeface="Arial"/>
              <a:buChar char="–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Validar la integración del lector (equipo en préstamo).</a:t>
            </a:r>
          </a:p>
          <a:p>
            <a:pPr marL="571500" indent="-228600" lvl="1" algn="l">
              <a:spcBef>
                <a:spcPts val="400"/>
              </a:spcBef>
              <a:buFont typeface="Arial"/>
              <a:buChar char="–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Completar el Documento de Pruebas (H-4) y el Manual de Usuario (H-5).</a:t>
            </a:r>
          </a:p>
          <a:p>
            <a:pPr marL="571500" indent="-228600" lvl="1" algn="l">
              <a:spcBef>
                <a:spcPts val="400"/>
              </a:spcBef>
              <a:buFont typeface="Arial"/>
              <a:buChar char="–"/>
            </a:pPr>
            <a:r>
              <a:rPr lang="es-CL" sz="1100" b="0" i="0" dirty="0">
                <a:solidFill>
                  <a:schemeClr val="tx1"/>
                </a:solidFill>
                <a:latin typeface="Arial"/>
                <a:cs typeface="Arial"/>
              </a:rPr>
              <a:t>Obtener la validación académica y formalizar la aceptación (H-6).</a:t>
            </a:r>
          </a:p>
          <a:p>
            <a:pPr marL="285750" indent="-228600" lvl="0" algn="l">
              <a:spcBef>
                <a:spcPts val="300"/>
              </a:spcBef>
              <a:buFont typeface="Arial"/>
              <a:buChar char="•"/>
            </a:pPr>
            <a:r>
              <a:rPr lang="es-CL" sz="1150" b="0" i="0" dirty="0">
                <a:solidFill>
                  <a:schemeClr val="tx1"/>
                </a:solidFill>
                <a:latin typeface="Arial"/>
                <a:cs typeface="Arial"/>
              </a:rPr>
              <a:t>Los riesgos residuales son acotados y con acción definida → se recomienda cerrar una vez cumplidas estas condiciones.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6B6B8E-6640-4637-AE48-70C283A21401}">
  <we:reference id="wa104380121" version="2.0.0.0" store="es-ES" storeType="OMEX"/>
  <we:alternateReferences>
    <we:reference id="WA104380121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65072</TotalTime>
  <Words>21</Words>
  <Application>Microsoft Office PowerPoint</Application>
  <PresentationFormat>Presentación en pantalla (16:9)</PresentationFormat>
  <Paragraphs>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Montserrat</vt:lpstr>
      <vt:lpstr>1_Tema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Gerardo Valenzuela Saá PMP ©</dc:creator>
  <cp:lastModifiedBy>Gerardo Valenzuela S. PMP ©</cp:lastModifiedBy>
  <cp:revision>1503</cp:revision>
  <cp:lastPrinted>2025-03-11T00:23:08Z</cp:lastPrinted>
  <dcterms:created xsi:type="dcterms:W3CDTF">2011-12-12T13:03:28Z</dcterms:created>
  <dcterms:modified xsi:type="dcterms:W3CDTF">2025-03-16T01:51:39Z</dcterms:modified>
</cp:coreProperties>
</file>